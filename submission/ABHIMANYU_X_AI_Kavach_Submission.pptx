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FB0AC"/>
                </a:solidFill>
                <a:latin typeface="Courier New"/>
              </a:rPr>
              <a:t>ABHIMANYU X  ·  AI KAVACH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2DE2C9"/>
                </a:solidFill>
                <a:latin typeface="Courier New"/>
              </a:rPr>
              <a:t>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9EDE9"/>
                </a:solidFill>
                <a:latin typeface="Georgia"/>
              </a:rPr>
              <a:t>ABHIMANYU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DE2C9"/>
                </a:solidFill>
                <a:latin typeface="Georgia"/>
              </a:rPr>
              <a:t>Autonomous Cyber Immune System for Defence Software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691640"/>
            <a:ext cx="11183112" cy="0"/>
          </a:xfrm>
          <a:prstGeom prst="line">
            <a:avLst/>
          </a:prstGeom>
          <a:ln w="9525">
            <a:solidFill>
              <a:srgbClr val="1C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23D"/>
                </a:solidFill>
                <a:latin typeface="Courier New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400">
                <a:solidFill>
                  <a:srgbClr val="2DE2C9"/>
                </a:solidFill>
                <a:latin typeface="Calibri"/>
              </a:rPr>
              <a:t>›  AI patch tools trust the LLM.</a:t>
            </a:r>
            <a:r>
              <a:rPr sz="1300">
                <a:solidFill>
                  <a:srgbClr val="E9EDE9"/>
                </a:solidFill>
                <a:latin typeface="Calibri"/>
              </a:rPr>
              <a:t>  —  a generated fix is shown as done, with no proof it actually blocks the exploit.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400">
                <a:solidFill>
                  <a:srgbClr val="2DE2C9"/>
                </a:solidFill>
                <a:latin typeface="Calibri"/>
              </a:rPr>
              <a:t>›  Security tooling needs heavy infra.</a:t>
            </a:r>
            <a:r>
              <a:rPr sz="1300">
                <a:solidFill>
                  <a:srgbClr val="E9EDE9"/>
                </a:solidFill>
                <a:latin typeface="Calibri"/>
              </a:rPr>
              <a:t>  —  cloud APIs, GPUs, or clusters most defence-context labs can't rely 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400">
                <a:solidFill>
                  <a:srgbClr val="2DE2C9"/>
                </a:solidFill>
                <a:latin typeface="Calibri"/>
              </a:rPr>
              <a:t>›  Manual discover-patch-verify cycles are slow</a:t>
            </a:r>
            <a:r>
              <a:rPr sz="1300">
                <a:solidFill>
                  <a:srgbClr val="E9EDE9"/>
                </a:solidFill>
                <a:latin typeface="Calibri"/>
              </a:rPr>
              <a:t>  —  and don't get faster just by adding an LLM in the loop.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87451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23D"/>
                </a:solidFill>
                <a:latin typeface="Courier New"/>
              </a:rPr>
              <a:t>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24028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400">
                <a:solidFill>
                  <a:srgbClr val="2DE2C9"/>
                </a:solidFill>
                <a:latin typeface="Calibri"/>
              </a:rPr>
              <a:t>›  A closed-loop cyber-immune cell.</a:t>
            </a:r>
            <a:r>
              <a:rPr sz="1300">
                <a:solidFill>
                  <a:srgbClr val="E9EDE9"/>
                </a:solidFill>
                <a:latin typeface="Calibri"/>
              </a:rPr>
              <a:t>  —  finds a real vulnerability, reasons about root cause with a local LLM, patches it, and PROVES the fix holds.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400">
                <a:solidFill>
                  <a:srgbClr val="2DE2C9"/>
                </a:solidFill>
                <a:latin typeface="Calibri"/>
              </a:rPr>
              <a:t>›  AI proposes. Evidence decides.</a:t>
            </a:r>
            <a:r>
              <a:rPr sz="1300">
                <a:solidFill>
                  <a:srgbClr val="E9EDE9"/>
                </a:solidFill>
                <a:latin typeface="Calibri"/>
              </a:rPr>
              <a:t>  —  every patch must pass real compiler + real exploit replay + real regression before it's called “verified.”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400">
                <a:solidFill>
                  <a:srgbClr val="2DE2C9"/>
                </a:solidFill>
                <a:latin typeface="Calibri"/>
              </a:rPr>
              <a:t>›  Fully local inference.</a:t>
            </a:r>
            <a:r>
              <a:rPr sz="1300">
                <a:solidFill>
                  <a:srgbClr val="E9EDE9"/>
                </a:solidFill>
                <a:latin typeface="Calibri"/>
              </a:rPr>
              <a:t>  —  a 3B-parameter model running offline — no cloud dependency, air-gap capable.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4709160"/>
            <a:ext cx="11183112" cy="0"/>
          </a:xfrm>
          <a:prstGeom prst="line">
            <a:avLst/>
          </a:prstGeom>
          <a:ln w="9525">
            <a:solidFill>
              <a:srgbClr val="1C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23D"/>
                </a:solidFill>
                <a:latin typeface="Courier New"/>
              </a:rPr>
              <a:t>CORE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49240"/>
            <a:ext cx="1691640" cy="68580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DISCOVER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214560" y="5564124"/>
            <a:ext cx="320040" cy="256032"/>
          </a:xfrm>
          <a:prstGeom prst="right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5349240"/>
            <a:ext cx="1691640" cy="68580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UNDERSTAND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43360" y="5564124"/>
            <a:ext cx="320040" cy="256032"/>
          </a:xfrm>
          <a:prstGeom prst="right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60520" y="5349240"/>
            <a:ext cx="1691640" cy="68580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REPAIR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72160" y="5564124"/>
            <a:ext cx="320040" cy="256032"/>
          </a:xfrm>
          <a:prstGeom prst="right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5349240"/>
            <a:ext cx="1691640" cy="68580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VERIFY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00960" y="5564124"/>
            <a:ext cx="320040" cy="256032"/>
          </a:xfrm>
          <a:prstGeom prst="right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18120" y="5349240"/>
            <a:ext cx="1691640" cy="68580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REMEMBER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529760" y="5564124"/>
            <a:ext cx="320040" cy="256032"/>
          </a:xfrm>
          <a:prstGeom prst="right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46920" y="5349240"/>
            <a:ext cx="1691640" cy="68580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9FB0AC"/>
                </a:solidFill>
                <a:latin typeface="Georgia"/>
              </a:rPr>
              <a:t>Every verified vulnerability becomes future defence.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FB0AC"/>
                </a:solidFill>
                <a:latin typeface="Courier New"/>
              </a:rPr>
              <a:t>ABHIMANYU X  ·  AI KAVACH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2DE2C9"/>
                </a:solidFill>
                <a:latin typeface="Courier New"/>
              </a:rPr>
              <a:t>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9EDE9"/>
                </a:solidFill>
                <a:latin typeface="Georgia"/>
              </a:rPr>
              <a:t>Detailed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DE2C9"/>
                </a:solidFill>
                <a:latin typeface="Georgia"/>
              </a:rPr>
              <a:t>Step-by-step pipeline — every stage below actually executes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691640"/>
            <a:ext cx="11183112" cy="0"/>
          </a:xfrm>
          <a:prstGeom prst="line">
            <a:avLst/>
          </a:prstGeom>
          <a:ln w="9525">
            <a:solidFill>
              <a:srgbClr val="1C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8745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DE2C9"/>
                </a:solidFill>
                <a:latin typeface="Courier New"/>
              </a:rPr>
              <a:t>1. REWIND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7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9EDE9"/>
                </a:solidFill>
                <a:latin typeface="Calibri"/>
              </a:rPr>
              <a:t>Real `git diff` commit analysis + static detection engine (Python + C). Includes a custom rule the project added: catching unchecked length reaching memcpy() — CWE-120 — which no pre-existing pattern covered.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DE2C9"/>
                </a:solidFill>
                <a:latin typeface="Courier New"/>
              </a:rPr>
              <a:t>2. Dynamic Analysis &amp; Fuzzing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4027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9EDE9"/>
                </a:solidFill>
                <a:latin typeface="Calibri"/>
              </a:rPr>
              <a:t>AFL++ 4.09c installed as a genuine OS package inside a Linux VM (Colima/Ubuntu 24.04). Blind-mode fuzzing against a real clang+ASan binary found a real stack-buffer-overflow crash. A real LLVM17/ASan toolchain incompatibility was found and disclosed, not hidden.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DE2C9"/>
                </a:solidFill>
                <a:latin typeface="Courier New"/>
              </a:rPr>
              <a:t>3. ANVIL — AI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0331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9EDE9"/>
                </a:solidFill>
                <a:latin typeface="Calibri"/>
              </a:rPr>
              <a:t>Root-cause analysis and patch generation via a local Ollama model (Qwen2.5-Coder 3B). No cloud call, no chain-of-thought exposed — only structured, evidence-grounded conclusions.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33755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DE2C9"/>
                </a:solidFill>
                <a:latin typeface="Courier New"/>
              </a:rPr>
              <a:t>4. Verification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0331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9EDE9"/>
                </a:solidFill>
                <a:latin typeface="Calibri"/>
              </a:rPr>
              <a:t>Real compile check, real exploit replay (same crash input, before vs. after, recompiled and re-executed in the VM), real regression/behaviour checks, plus adversarial testing across 6 additional payload sizes spanning the boundary.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005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DE2C9"/>
                </a:solidFill>
                <a:latin typeface="Courier New"/>
              </a:rPr>
              <a:t>5. Self-Correcting Repair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16635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9EDE9"/>
                </a:solidFill>
                <a:latin typeface="Calibri"/>
              </a:rPr>
              <a:t>A failed verification sends the concrete failure reason back to ANVIL for a real second attempt — GENERATE → TEST → FAIL → REPAIR → RETEST, not one-shot patching.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80059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DE2C9"/>
                </a:solidFill>
                <a:latin typeface="Courier New"/>
              </a:rPr>
              <a:t>6. Immune Memory &amp; 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16635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E9EDE9"/>
                </a:solidFill>
                <a:latin typeface="Calibri"/>
              </a:rPr>
              <a:t>Verified patterns are stored as “Vulnerability DNA” in SQLite. A second real target (network_protocol_parser) demonstrates a measured with-memory vs. without-memory comparison — not a fabricated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FB0AC"/>
                </a:solidFill>
                <a:latin typeface="Courier New"/>
              </a:rPr>
              <a:t>ABHIMANYU X  ·  AI KAVACH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2DE2C9"/>
                </a:solidFill>
                <a:latin typeface="Courier New"/>
              </a:rPr>
              <a:t>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9EDE9"/>
                </a:solidFill>
                <a:latin typeface="Georgia"/>
              </a:rPr>
              <a:t>Technology Stack &amp; System Flow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91640"/>
            <a:ext cx="11183112" cy="0"/>
          </a:xfrm>
          <a:prstGeom prst="line">
            <a:avLst/>
          </a:prstGeom>
          <a:ln w="9525">
            <a:solidFill>
              <a:srgbClr val="1C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828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23D"/>
                </a:solidFill>
                <a:latin typeface="Courier New"/>
              </a:rPr>
              <a:t>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250">
                <a:solidFill>
                  <a:srgbClr val="2DE2C9"/>
                </a:solidFill>
                <a:latin typeface="Calibri"/>
              </a:rPr>
              <a:t>›  Static analysis</a:t>
            </a:r>
            <a:r>
              <a:rPr sz="1150">
                <a:solidFill>
                  <a:srgbClr val="E9EDE9"/>
                </a:solidFill>
                <a:latin typeface="Calibri"/>
              </a:rPr>
              <a:t>  —  REWIND engine — Python, regex + AST + heuristics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250">
                <a:solidFill>
                  <a:srgbClr val="2DE2C9"/>
                </a:solidFill>
                <a:latin typeface="Calibri"/>
              </a:rPr>
              <a:t>›  Fuzzing / dynamic</a:t>
            </a:r>
            <a:r>
              <a:rPr sz="1150">
                <a:solidFill>
                  <a:srgbClr val="E9EDE9"/>
                </a:solidFill>
                <a:latin typeface="Calibri"/>
              </a:rPr>
              <a:t>  —  AFL++ 4.09c, clang-18, AddressSanitizer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250">
                <a:solidFill>
                  <a:srgbClr val="2DE2C9"/>
                </a:solidFill>
                <a:latin typeface="Calibri"/>
              </a:rPr>
              <a:t>›  Local AI</a:t>
            </a:r>
            <a:r>
              <a:rPr sz="1150">
                <a:solidFill>
                  <a:srgbClr val="E9EDE9"/>
                </a:solidFill>
                <a:latin typeface="Calibri"/>
              </a:rPr>
              <a:t>  —  Ollama + Qwen2.5-Coder 3B — fully offline inference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250">
                <a:solidFill>
                  <a:srgbClr val="2DE2C9"/>
                </a:solidFill>
                <a:latin typeface="Calibri"/>
              </a:rPr>
              <a:t>›  Backend</a:t>
            </a:r>
            <a:r>
              <a:rPr sz="1150">
                <a:solidFill>
                  <a:srgbClr val="E9EDE9"/>
                </a:solidFill>
                <a:latin typeface="Calibri"/>
              </a:rPr>
              <a:t>  —  Python, Flask + Flask-SocketIO (real-time WebSocket events)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250">
                <a:solidFill>
                  <a:srgbClr val="2DE2C9"/>
                </a:solidFill>
                <a:latin typeface="Calibri"/>
              </a:rPr>
              <a:t>›  Data</a:t>
            </a:r>
            <a:r>
              <a:rPr sz="1150">
                <a:solidFill>
                  <a:srgbClr val="E9EDE9"/>
                </a:solidFill>
                <a:latin typeface="Calibri"/>
              </a:rPr>
              <a:t>  —  SQLite — Immune Memory / Vulnerability DNA store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250">
                <a:solidFill>
                  <a:srgbClr val="2DE2C9"/>
                </a:solidFill>
                <a:latin typeface="Calibri"/>
              </a:rPr>
              <a:t>›  Frontend</a:t>
            </a:r>
            <a:r>
              <a:rPr sz="1150">
                <a:solidFill>
                  <a:srgbClr val="E9EDE9"/>
                </a:solidFill>
                <a:latin typeface="Calibri"/>
              </a:rPr>
              <a:t>  —  Vanilla Three.js 3D laboratory — no build toolchain, reacts to real backend state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250">
                <a:solidFill>
                  <a:srgbClr val="2DE2C9"/>
                </a:solidFill>
                <a:latin typeface="Calibri"/>
              </a:rPr>
              <a:t>›  CLI</a:t>
            </a:r>
            <a:r>
              <a:rPr sz="1150">
                <a:solidFill>
                  <a:srgbClr val="E9EDE9"/>
                </a:solidFill>
                <a:latin typeface="Calibri"/>
              </a:rPr>
              <a:t>  —  Python argparse — doctor / scan / mission / transfer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250">
                <a:solidFill>
                  <a:srgbClr val="2DE2C9"/>
                </a:solidFill>
                <a:latin typeface="Calibri"/>
              </a:rPr>
              <a:t>›  Supply chain</a:t>
            </a:r>
            <a:r>
              <a:rPr sz="1150">
                <a:solidFill>
                  <a:srgbClr val="E9EDE9"/>
                </a:solidFill>
                <a:latin typeface="Calibri"/>
              </a:rPr>
              <a:t>  —  pip-audit (real SBOM/CVE scan), Docker buildx (real multi-arch check)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b="1" sz="1250">
                <a:solidFill>
                  <a:srgbClr val="2DE2C9"/>
                </a:solidFill>
                <a:latin typeface="Calibri"/>
              </a:rPr>
              <a:t>›  Equipment</a:t>
            </a:r>
            <a:r>
              <a:rPr sz="1150">
                <a:solidFill>
                  <a:srgbClr val="E9EDE9"/>
                </a:solidFill>
                <a:latin typeface="Calibri"/>
              </a:rPr>
              <a:t>  —  MacBook (Apple Silicon) host + Colima-managed Linux VM — 2 vCPU / 4 GB RAM / 20 GB disk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82880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23D"/>
                </a:solidFill>
                <a:latin typeface="Courier New"/>
              </a:rPr>
              <a:t>SYSTEM 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194560"/>
            <a:ext cx="5623560" cy="566928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REPOSITORY</a:t>
            </a:r>
          </a:p>
          <a:p>
            <a:pPr algn="ctr"/>
            <a:r>
              <a:rPr sz="950">
                <a:solidFill>
                  <a:srgbClr val="9FB0AC"/>
                </a:solidFill>
                <a:latin typeface="Calibri"/>
              </a:rPr>
              <a:t>target source + git history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764524" y="2765488"/>
            <a:ext cx="164592" cy="65152"/>
          </a:xfrm>
          <a:prstGeom prst="down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35040" y="2834640"/>
            <a:ext cx="5623560" cy="566928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REWIND</a:t>
            </a:r>
          </a:p>
          <a:p>
            <a:pPr algn="ctr"/>
            <a:r>
              <a:rPr sz="950">
                <a:solidFill>
                  <a:srgbClr val="9FB0AC"/>
                </a:solidFill>
                <a:latin typeface="Calibri"/>
              </a:rPr>
              <a:t>commit diff + static findings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764524" y="3405568"/>
            <a:ext cx="164592" cy="65152"/>
          </a:xfrm>
          <a:prstGeom prst="down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3474720"/>
            <a:ext cx="5623560" cy="566928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STATIC + FUZZ ENGINE</a:t>
            </a:r>
          </a:p>
          <a:p>
            <a:pPr algn="ctr"/>
            <a:r>
              <a:rPr sz="950">
                <a:solidFill>
                  <a:srgbClr val="9FB0AC"/>
                </a:solidFill>
                <a:latin typeface="Calibri"/>
              </a:rPr>
              <a:t>REWIND scan  //  AFL++ + ASan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764524" y="4045648"/>
            <a:ext cx="164592" cy="65152"/>
          </a:xfrm>
          <a:prstGeom prst="down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4114800"/>
            <a:ext cx="5623560" cy="566928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VULNERABILITY</a:t>
            </a:r>
          </a:p>
          <a:p>
            <a:pPr algn="ctr"/>
            <a:r>
              <a:rPr sz="950">
                <a:solidFill>
                  <a:srgbClr val="9FB0AC"/>
                </a:solidFill>
                <a:latin typeface="Calibri"/>
              </a:rPr>
              <a:t>evidence bundle, CWE mapped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764524" y="4685728"/>
            <a:ext cx="164592" cy="65152"/>
          </a:xfrm>
          <a:prstGeom prst="down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0" y="4754880"/>
            <a:ext cx="5623560" cy="566928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ANVIL (local LLM)</a:t>
            </a:r>
          </a:p>
          <a:p>
            <a:pPr algn="ctr"/>
            <a:r>
              <a:rPr sz="950">
                <a:solidFill>
                  <a:srgbClr val="9FB0AC"/>
                </a:solidFill>
                <a:latin typeface="Calibri"/>
              </a:rPr>
              <a:t>root cause + patch, offline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764524" y="5325808"/>
            <a:ext cx="164592" cy="65152"/>
          </a:xfrm>
          <a:prstGeom prst="down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5394960"/>
            <a:ext cx="5623560" cy="566928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VERIFICATION CHAMBER</a:t>
            </a:r>
          </a:p>
          <a:p>
            <a:pPr algn="ctr"/>
            <a:r>
              <a:rPr sz="950">
                <a:solidFill>
                  <a:srgbClr val="9FB0AC"/>
                </a:solidFill>
                <a:latin typeface="Calibri"/>
              </a:rPr>
              <a:t>build → replay → regression → adversarial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764524" y="5965888"/>
            <a:ext cx="164592" cy="65152"/>
          </a:xfrm>
          <a:prstGeom prst="downArrow">
            <a:avLst/>
          </a:prstGeom>
          <a:solidFill>
            <a:srgbClr val="2DE2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35040" y="6035040"/>
            <a:ext cx="5623560" cy="566928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2DE2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IMMUNE MEMORY</a:t>
            </a:r>
          </a:p>
          <a:p>
            <a:pPr algn="ctr"/>
            <a:r>
              <a:rPr sz="950">
                <a:solidFill>
                  <a:srgbClr val="9FB0AC"/>
                </a:solidFill>
                <a:latin typeface="Calibri"/>
              </a:rPr>
              <a:t>verified pattern stored + transferable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FB0AC"/>
                </a:solidFill>
                <a:latin typeface="Courier New"/>
              </a:rPr>
              <a:t>ABHIMANYU X  ·  AI KAVACH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2DE2C9"/>
                </a:solidFill>
                <a:latin typeface="Courier New"/>
              </a:rPr>
              <a:t>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9EDE9"/>
                </a:solidFill>
                <a:latin typeface="Georgia"/>
              </a:rPr>
              <a:t>What Makes This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DE2C9"/>
                </a:solidFill>
                <a:latin typeface="Georgia"/>
              </a:rPr>
              <a:t>AI proposes. Evidence decides. Verification proves. Memory learns.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691640"/>
            <a:ext cx="11183112" cy="0"/>
          </a:xfrm>
          <a:prstGeom prst="line">
            <a:avLst/>
          </a:prstGeom>
          <a:ln w="9525">
            <a:solidFill>
              <a:srgbClr val="1C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87451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DE2C9"/>
                </a:solidFill>
                <a:latin typeface="Georgia"/>
              </a:rPr>
              <a:t>Evidence-driven verification, not AI self-certification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1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9EDE9"/>
                </a:solidFill>
                <a:latin typeface="Georgia"/>
              </a:rPr>
              <a:t>A patch is only called “VERIFIED” after passing all real gates — compile, exploit replay, regression, behaviour, adversarial robustness (7/7, computed, never asserted).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1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DE2C9"/>
                </a:solidFill>
                <a:latin typeface="Georgia"/>
              </a:rPr>
              <a:t>Self-correcting repair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3171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9EDE9"/>
                </a:solidFill>
                <a:latin typeface="Georgia"/>
              </a:rPr>
              <a:t>A rejected patch's real failure reason is sent back to ANVIL for a genuine second attempt — the system demonstrably knows when NOT to trust its own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375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DE2C9"/>
                </a:solidFill>
                <a:latin typeface="Georgia"/>
              </a:rPr>
              <a:t>Measured Immune Transfer, not a marketing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5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9EDE9"/>
                </a:solidFill>
                <a:latin typeface="Georgia"/>
              </a:rPr>
              <a:t>A second real vulnerable target shows an actual with-memory vs. without-memory comparison — reported as measured, whatever the real result turned out to be.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33755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DE2C9"/>
                </a:solidFill>
                <a:latin typeface="Georgia"/>
              </a:rPr>
              <a:t>Fully local, fully lightweight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79475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9EDE9"/>
                </a:solidFill>
                <a:latin typeface="Georgia"/>
              </a:rPr>
              <a:t>A 3B-parameter model and a 2-vCPU/4GB VM run the entire discover→patch→verify→remember loop on a single laptop — no GPU, no cluster, no cloud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005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DE2C9"/>
                </a:solidFill>
                <a:latin typeface="Georgia"/>
              </a:rPr>
              <a:t>Radical honesty baked into the UI itself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5779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9EDE9"/>
                </a:solidFill>
                <a:latin typeface="Georgia"/>
              </a:rPr>
              <a:t>Every figure is tagged MEASURED / AI-GENERATED / DEMO / FUTURE. A real, disclosed toolchain limitation (AFL++ coverage instrumentation vs. ASan on this platform) is documented rather than hidden — and worked around with a real fix, not a fudge.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80059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DE2C9"/>
                </a:solidFill>
                <a:latin typeface="Georgia"/>
              </a:rPr>
              <a:t>Reproducible by 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5257799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9EDE9"/>
                </a:solidFill>
                <a:latin typeface="Georgia"/>
              </a:rPr>
              <a:t>Every mission emits real provenance: commit hash, target/patch SHA-256, tool versions, timestamps — the same run can be independently re-verified.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6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9FB0AC"/>
                </a:solidFill>
                <a:latin typeface="Courier New"/>
              </a:rPr>
              <a:t>ABHIMANYU X  ·  AI KAVACH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560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2DE2C9"/>
                </a:solidFill>
                <a:latin typeface="Courier New"/>
              </a:rPr>
              <a:t>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E9EDE9"/>
                </a:solidFill>
                <a:latin typeface="Georgia"/>
              </a:rPr>
              <a:t>Deliverables &amp; Proof of Concept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691640"/>
            <a:ext cx="11183112" cy="0"/>
          </a:xfrm>
          <a:prstGeom prst="line">
            <a:avLst/>
          </a:prstGeom>
          <a:ln w="9525">
            <a:solidFill>
              <a:srgbClr val="1C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23D"/>
                </a:solidFill>
                <a:latin typeface="Courier New"/>
              </a:rPr>
              <a:t>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E9EDE9"/>
                </a:solidFill>
                <a:latin typeface="Calibri"/>
              </a:rPr>
              <a:t>›  Working end-to-end prototype: DISCOVER → UNDERSTAND → REPAIR → VERIFY → REMEMBER → TRANSFER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E9EDE9"/>
                </a:solidFill>
                <a:latin typeface="Calibri"/>
              </a:rPr>
              <a:t>›  Two real vulnerable C targets — real git history, real fuzz harness, real AFL++/ASan-found crash each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E9EDE9"/>
                </a:solidFill>
                <a:latin typeface="Calibri"/>
              </a:rPr>
              <a:t>›  3D interactive laboratory UI (Three.js) and a CLI, both driven by the same real backend event stream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E9EDE9"/>
                </a:solidFill>
                <a:latin typeface="Calibri"/>
              </a:rPr>
              <a:t>›  Real per-mission Provenance record for reproducibility (commit hash, file/patch SHA-256, tool versions, timestamps)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E9EDE9"/>
                </a:solidFill>
                <a:latin typeface="Calibri"/>
              </a:rPr>
              <a:t>›  Real SBOM (pip-audit) and real multi-architecture capability report (Docker buildx)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300">
                <a:solidFill>
                  <a:srgbClr val="E9EDE9"/>
                </a:solidFill>
                <a:latin typeface="Calibri"/>
              </a:rPr>
              <a:t>›  Retry/rollback loop and adversarial robustness testing on every verified 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8B23D"/>
                </a:solidFill>
                <a:latin typeface="Courier New"/>
              </a:rPr>
              <a:t>DEMONSTRATED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94560"/>
            <a:ext cx="5394960" cy="50292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Real crash found (AFL++/ASan)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788920"/>
            <a:ext cx="5394960" cy="50292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Real patch generated (local LLM)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383280"/>
            <a:ext cx="5394960" cy="50292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Real exploit replay —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977640"/>
            <a:ext cx="5394960" cy="50292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Real regression —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572000"/>
            <a:ext cx="5394960" cy="50292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3DDC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Immune Memory created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5166360"/>
            <a:ext cx="5394960" cy="502920"/>
          </a:xfrm>
          <a:prstGeom prst="roundRect">
            <a:avLst/>
          </a:prstGeom>
          <a:solidFill>
            <a:srgbClr val="131E1C"/>
          </a:solidFill>
          <a:ln w="15875">
            <a:solidFill>
              <a:srgbClr val="E8B2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 rIns="60000"/>
          <a:lstStyle/>
          <a:p>
            <a:pPr algn="ctr"/>
            <a:r>
              <a:rPr b="1" sz="1300">
                <a:solidFill>
                  <a:srgbClr val="E9EDE9"/>
                </a:solidFill>
                <a:latin typeface="Courier New"/>
              </a:rPr>
              <a:t>Pattern recognized on 2nd real target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5806440"/>
            <a:ext cx="11183112" cy="0"/>
          </a:xfrm>
          <a:prstGeom prst="line">
            <a:avLst/>
          </a:prstGeom>
          <a:ln w="9525">
            <a:solidFill>
              <a:srgbClr val="1C2A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9FB0AC"/>
                </a:solidFill>
                <a:latin typeface="Georgia"/>
              </a:rPr>
              <a:t>Status: research prototype — not validated for production or defence-classified deployment.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9FB0AC"/>
                </a:solidFill>
                <a:latin typeface="Georgia"/>
              </a:rPr>
              <a:t>Every patch is meant to be human-reviewed before use, not auto-deployed.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